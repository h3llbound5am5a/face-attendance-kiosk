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2420" y="91440"/>
            <a:ext cx="2514600" cy="5394960"/>
          </a:xfrm>
          <a:prstGeom prst="ellipse">
            <a:avLst/>
          </a:prstGeom>
          <a:solidFill>
            <a:srgbClr val="0E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133588" y="523037"/>
            <a:ext cx="2112264" cy="4531766"/>
          </a:xfrm>
          <a:prstGeom prst="ellipse">
            <a:avLst/>
          </a:prstGeom>
          <a:solidFill>
            <a:srgbClr val="113740"/>
          </a:solidFill>
          <a:ln/>
        </p:spPr>
      </p:sp>
      <p:sp>
        <p:nvSpPr>
          <p:cNvPr id="4" name="Shape 2"/>
          <p:cNvSpPr/>
          <p:nvPr/>
        </p:nvSpPr>
        <p:spPr>
          <a:xfrm>
            <a:off x="8334756" y="954634"/>
            <a:ext cx="1709928" cy="3668573"/>
          </a:xfrm>
          <a:prstGeom prst="ellipse">
            <a:avLst/>
          </a:prstGeom>
          <a:solidFill>
            <a:srgbClr val="154850"/>
          </a:solidFill>
          <a:ln/>
        </p:spPr>
      </p:sp>
      <p:sp>
        <p:nvSpPr>
          <p:cNvPr id="5" name="Shape 3"/>
          <p:cNvSpPr/>
          <p:nvPr/>
        </p:nvSpPr>
        <p:spPr>
          <a:xfrm>
            <a:off x="8535924" y="1386230"/>
            <a:ext cx="1307592" cy="2805379"/>
          </a:xfrm>
          <a:prstGeom prst="ellipse">
            <a:avLst/>
          </a:prstGeom>
          <a:solidFill>
            <a:srgbClr val="1B6168"/>
          </a:solidFill>
          <a:ln/>
        </p:spPr>
      </p:sp>
      <p:sp>
        <p:nvSpPr>
          <p:cNvPr id="6" name="Shape 4"/>
          <p:cNvSpPr/>
          <p:nvPr/>
        </p:nvSpPr>
        <p:spPr>
          <a:xfrm>
            <a:off x="8737092" y="1817827"/>
            <a:ext cx="905256" cy="1942186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7" name="Shape 5"/>
          <p:cNvSpPr/>
          <p:nvPr/>
        </p:nvSpPr>
        <p:spPr>
          <a:xfrm>
            <a:off x="9107424" y="2033626"/>
            <a:ext cx="164592" cy="836219"/>
          </a:xfrm>
          <a:prstGeom prst="ellipse">
            <a:avLst/>
          </a:prstGeom>
          <a:solidFill>
            <a:srgbClr val="D8FFFB"/>
          </a:solidFill>
          <a:ln/>
        </p:spPr>
      </p:sp>
      <p:sp>
        <p:nvSpPr>
          <p:cNvPr id="8" name="Shape 6"/>
          <p:cNvSpPr/>
          <p:nvPr/>
        </p:nvSpPr>
        <p:spPr>
          <a:xfrm>
            <a:off x="9258300" y="137160"/>
            <a:ext cx="2697480" cy="5394960"/>
          </a:xfrm>
          <a:prstGeom prst="ellipse">
            <a:avLst/>
          </a:prstGeom>
          <a:solidFill>
            <a:srgbClr val="0E2A30"/>
          </a:solidFill>
          <a:ln/>
        </p:spPr>
      </p:sp>
      <p:sp>
        <p:nvSpPr>
          <p:cNvPr id="9" name="Shape 7"/>
          <p:cNvSpPr/>
          <p:nvPr/>
        </p:nvSpPr>
        <p:spPr>
          <a:xfrm>
            <a:off x="9474098" y="568757"/>
            <a:ext cx="2265883" cy="4531766"/>
          </a:xfrm>
          <a:prstGeom prst="ellipse">
            <a:avLst/>
          </a:prstGeom>
          <a:solidFill>
            <a:srgbClr val="113740"/>
          </a:solidFill>
          <a:ln/>
        </p:spPr>
      </p:sp>
      <p:sp>
        <p:nvSpPr>
          <p:cNvPr id="10" name="Shape 8"/>
          <p:cNvSpPr/>
          <p:nvPr/>
        </p:nvSpPr>
        <p:spPr>
          <a:xfrm>
            <a:off x="9689897" y="1000354"/>
            <a:ext cx="1834286" cy="3668573"/>
          </a:xfrm>
          <a:prstGeom prst="ellipse">
            <a:avLst/>
          </a:prstGeom>
          <a:solidFill>
            <a:srgbClr val="154850"/>
          </a:solidFill>
          <a:ln/>
        </p:spPr>
      </p:sp>
      <p:sp>
        <p:nvSpPr>
          <p:cNvPr id="11" name="Shape 9"/>
          <p:cNvSpPr/>
          <p:nvPr/>
        </p:nvSpPr>
        <p:spPr>
          <a:xfrm>
            <a:off x="9905695" y="1431950"/>
            <a:ext cx="1402690" cy="2805379"/>
          </a:xfrm>
          <a:prstGeom prst="ellipse">
            <a:avLst/>
          </a:prstGeom>
          <a:solidFill>
            <a:srgbClr val="1B616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21494" y="1863547"/>
            <a:ext cx="971093" cy="1942186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24744" y="2079346"/>
            <a:ext cx="164592" cy="836219"/>
          </a:xfrm>
          <a:prstGeom prst="ellipse">
            <a:avLst/>
          </a:prstGeom>
          <a:solidFill>
            <a:srgbClr val="D8FFFB"/>
          </a:solidFill>
          <a:ln/>
        </p:spPr>
      </p:sp>
      <p:sp>
        <p:nvSpPr>
          <p:cNvPr id="14" name="Text 12"/>
          <p:cNvSpPr/>
          <p:nvPr/>
        </p:nvSpPr>
        <p:spPr>
          <a:xfrm>
            <a:off x="809244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7F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ANIMATED IDLE SCREEN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234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RASPBERRY PI 5  ·  ON-DEVICE  ·  OFFLINE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16916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Face-Recognition</a:t>
            </a:r>
            <a:endParaRPr lang="en-US" sz="5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Kiosk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offline check-in station that recognizes faces, greets each person by name, and logs attendance to a daily sheet — running entirely on a Raspberry Pi.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6E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 ·  mediapipe  ·  dlib  ·  pygame  ·  opencv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kiosk turns a Pi, a camera and a screen into a self-serve attendance station.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someone steps up, its animated eyes lock on, it recognizes them from a photo database, shows a personalized greeting, and records the check-in.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cards. No app. No internet.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82880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568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510528" y="2798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&amp; offline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182880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26880" y="195681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345168" y="279806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fluid animated 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5204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6484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4×/s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10528" y="4489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checks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3520440"/>
            <a:ext cx="2606040" cy="1508760"/>
          </a:xfrm>
          <a:prstGeom prst="roundRect">
            <a:avLst>
              <a:gd name="adj" fmla="val 5455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0" y="36484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1/day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345168" y="4489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 per person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face recognition?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361188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8096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register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 &amp; paper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8096" y="2743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call eats lesson time, any friend can answer for an absentee, and sheets must be re-typed later.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4828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 slow · proxy-friendly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6432" y="1737360"/>
            <a:ext cx="2743200" cy="361188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75888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/ ID card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75888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tap a token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75888" y="2743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Authenticates the card, not the person — cards get borrowed, shared and lost.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75888" y="4828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 verifies the token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737360"/>
            <a:ext cx="2743200" cy="361188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83680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 biometric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2743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the person, but everyone touches one shared sensor and queues build at the door.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4828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5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 contact · slow queues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72016" y="1737360"/>
            <a:ext cx="2743200" cy="3611880"/>
          </a:xfrm>
          <a:prstGeom prst="roundRect">
            <a:avLst>
              <a:gd name="adj" fmla="val 3000"/>
            </a:avLst>
          </a:prstGeom>
          <a:solidFill>
            <a:srgbClr val="0F2124"/>
          </a:solidFill>
          <a:ln w="19050">
            <a:solidFill>
              <a:srgbClr val="2EE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91472" y="19659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91472" y="23408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project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91472" y="274320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carry or remember, hard to fake casually — a glance at the camera marks you present.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91472" y="48280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contactless · on-device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face is the one credential that can’t be forgotten, shared or lost — and it needs no contact at all.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to feel alive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83664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5" name="Text 3"/>
          <p:cNvSpPr/>
          <p:nvPr/>
        </p:nvSpPr>
        <p:spPr>
          <a:xfrm>
            <a:off x="896112" y="177393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that follow you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96112" y="212140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tracks your face; the pupils and eyelids react in real time.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118104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300837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personal greeting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35584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“Good Morning, &lt;name&gt;” with your photo and role the moment you're recognized.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352544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" y="424281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a glance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96112" y="459028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headcount and the last few arrivals sit on the idle screen.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46520" y="1691640"/>
            <a:ext cx="5212080" cy="4160520"/>
          </a:xfrm>
          <a:prstGeom prst="roundRect">
            <a:avLst>
              <a:gd name="adj" fmla="val 1978"/>
            </a:avLst>
          </a:prstGeom>
          <a:solidFill>
            <a:srgbClr val="0D1420"/>
          </a:solidFill>
          <a:ln w="19050">
            <a:solidFill>
              <a:srgbClr val="2EE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892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104120" y="1892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 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2350008"/>
            <a:ext cx="1737360" cy="1920240"/>
          </a:xfrm>
          <a:prstGeom prst="roundRect">
            <a:avLst>
              <a:gd name="adj" fmla="val 2632"/>
            </a:avLst>
          </a:prstGeom>
          <a:solidFill>
            <a:srgbClr val="141C2A"/>
          </a:solidFill>
          <a:ln w="12700">
            <a:solidFill>
              <a:srgbClr val="31B8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2651760"/>
            <a:ext cx="603504" cy="603504"/>
          </a:xfrm>
          <a:prstGeom prst="ellipse">
            <a:avLst/>
          </a:prstGeom>
          <a:solidFill>
            <a:srgbClr val="4A5568"/>
          </a:solidFill>
          <a:ln/>
        </p:spPr>
      </p:sp>
      <p:sp>
        <p:nvSpPr>
          <p:cNvPr id="18" name="Shape 16"/>
          <p:cNvSpPr/>
          <p:nvPr/>
        </p:nvSpPr>
        <p:spPr>
          <a:xfrm>
            <a:off x="7013448" y="3392424"/>
            <a:ext cx="1170432" cy="777240"/>
          </a:xfrm>
          <a:prstGeom prst="roundRect">
            <a:avLst>
              <a:gd name="adj" fmla="val 14118"/>
            </a:avLst>
          </a:prstGeom>
          <a:solidFill>
            <a:srgbClr val="4A556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0" y="24688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0" y="27889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Anil Kumar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686800" y="33192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 ·  Signass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4480560"/>
            <a:ext cx="4663440" cy="548640"/>
          </a:xfrm>
          <a:prstGeom prst="roundRect">
            <a:avLst>
              <a:gd name="adj" fmla="val 15000"/>
            </a:avLst>
          </a:prstGeom>
          <a:solidFill>
            <a:srgbClr val="12331F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44805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CD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ATTENDANCE MARKED   ·   09:41 AM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39128" y="5212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recent  09:38 Anirban  ·  09:31 Abhinav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check-in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395728"/>
            <a:ext cx="137160" cy="137160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2258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651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eyes idle, waiting for a 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80360" y="2468880"/>
            <a:ext cx="457200" cy="384048"/>
          </a:xfrm>
          <a:prstGeom prst="rightArrow">
            <a:avLst/>
          </a:prstGeom>
          <a:solidFill>
            <a:srgbClr val="1E8C86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210312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6744" y="2395728"/>
            <a:ext cx="137160" cy="137160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1" name="Text 9"/>
          <p:cNvSpPr/>
          <p:nvPr/>
        </p:nvSpPr>
        <p:spPr>
          <a:xfrm>
            <a:off x="3904488" y="2258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66744" y="2651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recognizing — up to 5 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468880"/>
            <a:ext cx="457200" cy="384048"/>
          </a:xfrm>
          <a:prstGeom prst="rightArrow">
            <a:avLst/>
          </a:prstGeom>
          <a:solidFill>
            <a:srgbClr val="1E8C86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210312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47104" y="2395728"/>
            <a:ext cx="137160" cy="137160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16" name="Text 14"/>
          <p:cNvSpPr/>
          <p:nvPr/>
        </p:nvSpPr>
        <p:spPr>
          <a:xfrm>
            <a:off x="6784848" y="2258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47104" y="2651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known: photo, name, mark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41080" y="2468880"/>
            <a:ext cx="457200" cy="384048"/>
          </a:xfrm>
          <a:prstGeom prst="rightArrow">
            <a:avLst/>
          </a:prstGeom>
          <a:solidFill>
            <a:srgbClr val="1E8C86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9720" y="2103120"/>
            <a:ext cx="2240280" cy="1097280"/>
          </a:xfrm>
          <a:prstGeom prst="roundRect">
            <a:avLst>
              <a:gd name="adj" fmla="val 75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427464" y="2395728"/>
            <a:ext cx="137160" cy="137160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1" name="Text 19"/>
          <p:cNvSpPr/>
          <p:nvPr/>
        </p:nvSpPr>
        <p:spPr>
          <a:xfrm>
            <a:off x="9665208" y="22585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COOLDOWN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27464" y="26517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pause → back to idle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43400" y="3337560"/>
            <a:ext cx="384048" cy="457200"/>
          </a:xfrm>
          <a:prstGeom prst="downArrow">
            <a:avLst/>
          </a:prstGeom>
          <a:solidFill>
            <a:srgbClr val="1E8C86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3931920"/>
            <a:ext cx="2240280" cy="1051560"/>
          </a:xfrm>
          <a:prstGeom prst="roundRect">
            <a:avLst>
              <a:gd name="adj" fmla="val 7826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66744" y="4224528"/>
            <a:ext cx="137160" cy="137160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26" name="Text 24"/>
          <p:cNvSpPr/>
          <p:nvPr/>
        </p:nvSpPr>
        <p:spPr>
          <a:xfrm>
            <a:off x="3904488" y="408736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666744" y="4480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 → “not recognized”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9319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kiosk waits, verifies, then 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D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greets and logs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visitor — or shows 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5B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recognized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after five seconds. A short cooldown stops the same person being logged twice.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 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182880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28529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76656" y="3200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feed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4360" y="4041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 grabber thread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95728" y="3291840"/>
            <a:ext cx="347472" cy="0"/>
          </a:xfrm>
          <a:prstGeom prst="line">
            <a:avLst/>
          </a:prstGeom>
          <a:noFill/>
          <a:ln w="31750">
            <a:solidFill>
              <a:srgbClr val="1E8C8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61488" y="2697480"/>
            <a:ext cx="182880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9504" y="28529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889504" y="3200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 mesh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807208" y="4041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bot_vision.py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08576" y="3291840"/>
            <a:ext cx="347472" cy="0"/>
          </a:xfrm>
          <a:prstGeom prst="line">
            <a:avLst/>
          </a:prstGeom>
          <a:noFill/>
          <a:ln w="31750">
            <a:solidFill>
              <a:srgbClr val="1E8C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74336" y="2697480"/>
            <a:ext cx="182880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02352" y="28529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02352" y="3200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dlib · 128-D vector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0056" y="4041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face_recognition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21424" y="3291840"/>
            <a:ext cx="347472" cy="0"/>
          </a:xfrm>
          <a:prstGeom prst="line">
            <a:avLst/>
          </a:prstGeom>
          <a:noFill/>
          <a:ln w="31750">
            <a:solidFill>
              <a:srgbClr val="1E8C8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187184" y="2697480"/>
            <a:ext cx="182880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28529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Check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315200" y="32004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per day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232904" y="40416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bot_attendance.py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55480" y="173736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12331F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555480" y="18105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CD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 &amp; Log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555480" y="2194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person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555480" y="397764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3A2F12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55480" y="405079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5B9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Recognized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555480" y="4434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match within 0.42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9034272" y="2377440"/>
            <a:ext cx="493776" cy="731520"/>
          </a:xfrm>
          <a:prstGeom prst="line">
            <a:avLst/>
          </a:prstGeom>
          <a:noFill/>
          <a:ln w="31750">
            <a:solidFill>
              <a:srgbClr val="1E8C8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034272" y="3474720"/>
            <a:ext cx="493776" cy="731520"/>
          </a:xfrm>
          <a:prstGeom prst="line">
            <a:avLst/>
          </a:prstGeom>
          <a:noFill/>
          <a:ln w="31750">
            <a:solidFill>
              <a:srgbClr val="1E8C8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stage runs on the Raspberry Pi itself — no network, no cloud. Recognition happens on a 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thread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both outcomes are drawn to the fullscreen pygame display by the UI loop.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face to record, in four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342900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2084832"/>
            <a:ext cx="585216" cy="585216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084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6384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MediaPipe FaceMesh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3703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468-point mesh finds and frames the face on a 320×240 preview.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3200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56432" y="1828800"/>
            <a:ext cx="2743200" cy="342900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94176" y="2084832"/>
            <a:ext cx="585216" cy="585216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3" name="Text 11"/>
          <p:cNvSpPr/>
          <p:nvPr/>
        </p:nvSpPr>
        <p:spPr>
          <a:xfrm>
            <a:off x="3694176" y="2084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94176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94176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dlib ResNet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94176" y="3703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face crop becomes a 128-number vector — its numeric fingerprint.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99632" y="3200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364224" y="1828800"/>
            <a:ext cx="2743200" cy="342900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01968" y="2084832"/>
            <a:ext cx="585216" cy="585216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2084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01968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01968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 neighbour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01968" y="3703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every known vector; a distance under 0.42 is a match.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07424" y="3200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272016" y="1828800"/>
            <a:ext cx="2743200" cy="3429000"/>
          </a:xfrm>
          <a:prstGeom prst="roundRect">
            <a:avLst>
              <a:gd name="adj" fmla="val 3000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509760" y="2084832"/>
            <a:ext cx="585216" cy="585216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7" name="Text 25"/>
          <p:cNvSpPr/>
          <p:nvPr/>
        </p:nvSpPr>
        <p:spPr>
          <a:xfrm>
            <a:off x="9509760" y="20848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5097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50976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CSV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509760" y="370332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name is written once per person to today's attendance sheet.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open-source parts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391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203704"/>
            <a:ext cx="237744" cy="23774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130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2862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runtime &amp; glue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53128" y="178308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20391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2203704"/>
            <a:ext cx="237744" cy="23774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2" name="Text 10"/>
          <p:cNvSpPr/>
          <p:nvPr/>
        </p:nvSpPr>
        <p:spPr>
          <a:xfrm>
            <a:off x="5458968" y="2130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45736" y="2862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hardware — camera + touchscreen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57616" y="178308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31936" y="203911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96528" y="2203704"/>
            <a:ext cx="237744" cy="23774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7" name="Text 15"/>
          <p:cNvSpPr/>
          <p:nvPr/>
        </p:nvSpPr>
        <p:spPr>
          <a:xfrm>
            <a:off x="9363456" y="2130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50224" y="28620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 &amp; mesh tracking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0507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4215384"/>
            <a:ext cx="237744" cy="23774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2" name="Text 20"/>
          <p:cNvSpPr/>
          <p:nvPr/>
        </p:nvSpPr>
        <p:spPr>
          <a:xfrm>
            <a:off x="1554480" y="4142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face_recognition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" y="4873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dlib 128-D face matching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53128" y="379476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27448" y="40507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4215384"/>
            <a:ext cx="237744" cy="23774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7" name="Text 25"/>
          <p:cNvSpPr/>
          <p:nvPr/>
        </p:nvSpPr>
        <p:spPr>
          <a:xfrm>
            <a:off x="5458968" y="4142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pygame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745736" y="4873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Fullscreen animated UI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57616" y="379476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31936" y="40507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96528" y="4215384"/>
            <a:ext cx="237744" cy="23774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32" name="Text 30"/>
          <p:cNvSpPr/>
          <p:nvPr/>
        </p:nvSpPr>
        <p:spPr>
          <a:xfrm>
            <a:off x="9363456" y="41422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650224" y="48737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capture &amp; image ops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clean sheet per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0262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4068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51C2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042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Anirudha Sarkar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66160" y="230428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Signass Student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40680" y="23042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07:30 AM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A2334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712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Aditya Talukdar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28712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40680" y="28712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07:42 AM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51C2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4381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Sharanya Saha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66160" y="343814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40680" y="343814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07:55 AM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005072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A233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05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Rohan Bose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566160" y="400507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40680" y="40050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08:10 AM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51C2B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572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Sukanya Das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66160" y="45720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40680" y="45720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08:20 AM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38928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1A2334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5138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7D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Bipasa Paul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566160" y="5138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40680" y="51389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08:27 AM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66928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attendance/2026-07-17.csv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31152" y="2002536"/>
            <a:ext cx="155448" cy="155448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1892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Marked once per day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72694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sighting shows “already marked” — never a duplicate row.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931152" y="3191256"/>
            <a:ext cx="155448" cy="155448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30815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restarts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269480" y="34290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launch it reloads today's file and picks up exactly where it left off.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931152" y="4379976"/>
            <a:ext cx="155448" cy="155448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427024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over at midnight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7269480" y="4617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fresh sheet each day; the group folder is saved as the category.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stay smooth on a Pi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" y="2377440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ran inline — froze the UI ~½ s each try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96112" y="2798064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752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reads blocked the main loop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96112" y="3218688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mesh ran on the full 640×480 frame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639312"/>
            <a:ext cx="100584" cy="100584"/>
          </a:xfrm>
          <a:prstGeom prst="ellipse">
            <a:avLst/>
          </a:prstGeom>
          <a:solidFill>
            <a:srgbClr val="E5B93F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593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recognition attempt every 0.6 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349240" cy="2606040"/>
          </a:xfrm>
          <a:prstGeom prst="roundRect">
            <a:avLst>
              <a:gd name="adj" fmla="val 3158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1112" y="2377440"/>
            <a:ext cx="100584" cy="100584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17" name="Text 15"/>
          <p:cNvSpPr/>
          <p:nvPr/>
        </p:nvSpPr>
        <p:spPr>
          <a:xfrm>
            <a:off x="6885432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on a background worker — UI never stalls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11112" y="2798064"/>
            <a:ext cx="100584" cy="100584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19" name="Text 17"/>
          <p:cNvSpPr/>
          <p:nvPr/>
        </p:nvSpPr>
        <p:spPr>
          <a:xfrm>
            <a:off x="6885432" y="2752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capture thread always holds the latest frame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11112" y="3218688"/>
            <a:ext cx="100584" cy="100584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21" name="Text 19"/>
          <p:cNvSpPr/>
          <p:nvPr/>
        </p:nvSpPr>
        <p:spPr>
          <a:xfrm>
            <a:off x="6885432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runs on a 320×240 frame (~4× lighter)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611112" y="3639312"/>
            <a:ext cx="100584" cy="100584"/>
          </a:xfrm>
          <a:prstGeom prst="ellipse">
            <a:avLst/>
          </a:prstGeom>
          <a:solidFill>
            <a:srgbClr val="3CD97B"/>
          </a:solidFill>
          <a:ln/>
        </p:spPr>
      </p:sp>
      <p:sp>
        <p:nvSpPr>
          <p:cNvPr id="23" name="Text 21"/>
          <p:cNvSpPr/>
          <p:nvPr/>
        </p:nvSpPr>
        <p:spPr>
          <a:xfrm>
            <a:off x="6885432" y="3593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attempts a second, frame-rate capped at 30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3538728" cy="1325880"/>
          </a:xfrm>
          <a:prstGeom prst="roundRect">
            <a:avLst>
              <a:gd name="adj" fmla="val 6207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4800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2.4×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2148840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recognition cadence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53128" y="4572000"/>
            <a:ext cx="3538728" cy="1325880"/>
          </a:xfrm>
          <a:prstGeom prst="roundRect">
            <a:avLst>
              <a:gd name="adj" fmla="val 6207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81728" y="4800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053328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threads: capture · match · UI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357616" y="4572000"/>
            <a:ext cx="3538728" cy="1325880"/>
          </a:xfrm>
          <a:prstGeom prst="roundRect">
            <a:avLst>
              <a:gd name="adj" fmla="val 6207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586216" y="4800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9957816" y="475488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freezes during a scan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CONCURRENCY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threads, zero freezes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1 — CAMERA GRABBER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camera continuously and keeps only the newest frame — the rest of the app never waits on camera I/O.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264408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4107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2 — RECOGNITION WORKER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9896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0.25 s: detect → encode → match. All dlib calls sit behind a single lock — its C++ core is not thread-safe.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837176"/>
            <a:ext cx="8138160" cy="1188720"/>
          </a:xfrm>
          <a:prstGeom prst="roundRect">
            <a:avLst>
              <a:gd name="adj" fmla="val 6923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983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 3 — UI / MAIN LOOP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5312664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pygame state machine draws the eyes and screens at a steady 30 FPS, whatever recognition is doing.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874520" y="2862072"/>
            <a:ext cx="0" cy="420624"/>
          </a:xfrm>
          <a:prstGeom prst="line">
            <a:avLst/>
          </a:prstGeom>
          <a:noFill/>
          <a:ln w="28575">
            <a:solidFill>
              <a:srgbClr val="31B8B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2880360"/>
            <a:ext cx="3749040" cy="402336"/>
          </a:xfrm>
          <a:prstGeom prst="roundRect">
            <a:avLst>
              <a:gd name="adj" fmla="val 45455"/>
            </a:avLst>
          </a:prstGeom>
          <a:solidFill>
            <a:srgbClr val="10262B"/>
          </a:solidFill>
          <a:ln w="12700">
            <a:solidFill>
              <a:srgbClr val="31B8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8803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latest frame · lock-protected handoff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4434840"/>
            <a:ext cx="0" cy="420624"/>
          </a:xfrm>
          <a:prstGeom prst="line">
            <a:avLst/>
          </a:prstGeom>
          <a:noFill/>
          <a:ln w="28575">
            <a:solidFill>
              <a:srgbClr val="31B8B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0" y="4453128"/>
            <a:ext cx="3749040" cy="402336"/>
          </a:xfrm>
          <a:prstGeom prst="roundRect">
            <a:avLst>
              <a:gd name="adj" fmla="val 45455"/>
            </a:avLst>
          </a:prstGeom>
          <a:solidFill>
            <a:srgbClr val="10262B"/>
          </a:solidFill>
          <a:ln w="12700">
            <a:solidFill>
              <a:srgbClr val="31B8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44531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D9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result · polled, non-blocking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587752" cy="1188720"/>
          </a:xfrm>
          <a:prstGeom prst="roundRect">
            <a:avLst>
              <a:gd name="adj" fmla="val 6923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53728" y="18379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FPS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272016" y="24414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steady UI, always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3264408"/>
            <a:ext cx="2587752" cy="1188720"/>
          </a:xfrm>
          <a:prstGeom prst="roundRect">
            <a:avLst>
              <a:gd name="adj" fmla="val 6923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53728" y="34107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4×/s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9272016" y="40142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 attempts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52560" y="4837176"/>
            <a:ext cx="2587752" cy="1188720"/>
          </a:xfrm>
          <a:prstGeom prst="roundRect">
            <a:avLst>
              <a:gd name="adj" fmla="val 6923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53728" y="4983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272016" y="55869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freezes during a scan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a doorbell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93976"/>
            <a:ext cx="292608" cy="292608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6" name="Shape 4"/>
          <p:cNvSpPr/>
          <p:nvPr/>
        </p:nvSpPr>
        <p:spPr>
          <a:xfrm>
            <a:off x="905256" y="2176272"/>
            <a:ext cx="128016" cy="128016"/>
          </a:xfrm>
          <a:prstGeom prst="ellipse">
            <a:avLst/>
          </a:prstGeom>
          <a:solidFill>
            <a:srgbClr val="151C2B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enrollment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3493008" y="2039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 new student at the kiosk — saved and matched instantly.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53128" y="178308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2093976"/>
            <a:ext cx="292608" cy="292608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809744" y="2176272"/>
            <a:ext cx="128016" cy="128016"/>
          </a:xfrm>
          <a:prstGeom prst="ellipse">
            <a:avLst/>
          </a:prstGeom>
          <a:solidFill>
            <a:srgbClr val="151C2B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reload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397496" y="203911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9749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45736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Rescan the face database in the background, no restart.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57616" y="178308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31936" y="2093976"/>
            <a:ext cx="292608" cy="292608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0" name="Shape 18"/>
          <p:cNvSpPr/>
          <p:nvPr/>
        </p:nvSpPr>
        <p:spPr>
          <a:xfrm>
            <a:off x="8714232" y="2176272"/>
            <a:ext cx="128016" cy="128016"/>
          </a:xfrm>
          <a:prstGeom prst="ellipse">
            <a:avLst/>
          </a:prstGeom>
          <a:solidFill>
            <a:srgbClr val="151C2B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stats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650224" y="26517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headcount and recent arrivals on the home screen.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105656"/>
            <a:ext cx="292608" cy="292608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25" name="Shape 23"/>
          <p:cNvSpPr/>
          <p:nvPr/>
        </p:nvSpPr>
        <p:spPr>
          <a:xfrm>
            <a:off x="905256" y="4187952"/>
            <a:ext cx="128016" cy="128016"/>
          </a:xfrm>
          <a:prstGeom prst="ellipse">
            <a:avLst/>
          </a:prstGeom>
          <a:solidFill>
            <a:srgbClr val="151C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61872" y="4050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tracking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41248" y="4663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eyes follow the visitor's face in real time.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53128" y="379476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4105656"/>
            <a:ext cx="292608" cy="292608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9744" y="4187952"/>
            <a:ext cx="128016" cy="128016"/>
          </a:xfrm>
          <a:prstGeom prst="ellipse">
            <a:avLst/>
          </a:prstGeom>
          <a:solidFill>
            <a:srgbClr val="151C2B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4050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filtering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745736" y="4663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only chosen folders — Signass Student, Students.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357616" y="3794760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31936" y="4105656"/>
            <a:ext cx="292608" cy="292608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35" name="Shape 33"/>
          <p:cNvSpPr/>
          <p:nvPr/>
        </p:nvSpPr>
        <p:spPr>
          <a:xfrm>
            <a:off x="8714232" y="4187952"/>
            <a:ext cx="128016" cy="128016"/>
          </a:xfrm>
          <a:prstGeom prst="ellipse">
            <a:avLst/>
          </a:prstGeom>
          <a:solidFill>
            <a:srgbClr val="151C2B"/>
          </a:solidFill>
          <a:ln/>
        </p:spPr>
      </p:sp>
      <p:sp>
        <p:nvSpPr>
          <p:cNvPr id="36" name="Text 34"/>
          <p:cNvSpPr/>
          <p:nvPr/>
        </p:nvSpPr>
        <p:spPr>
          <a:xfrm>
            <a:off x="9070848" y="40507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view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1301984" y="4050792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2124"/>
          </a:solidFill>
          <a:ln w="15875">
            <a:solidFill>
              <a:srgbClr val="2EE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301984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50224" y="46634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camera, face mesh and an FPS counter overlay.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with real students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806440" cy="4526280"/>
          </a:xfrm>
          <a:prstGeom prst="roundRect">
            <a:avLst>
              <a:gd name="adj" fmla="val 1818"/>
            </a:avLst>
          </a:prstGeom>
          <a:solidFill>
            <a:srgbClr val="151C2B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SCENARIOS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4208" y="22860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Enrolled student recognized &amp; marked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3212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64208" y="2834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Re-appearance → “already marked”, no duplicate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532120" y="2834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33832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face rejected after 5 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32120" y="33832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64208" y="39319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Kiosk enrollment (E) — matched on next attempt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32120" y="3931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480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64208" y="44805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reload (R) picks up new photos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532120" y="4480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64208" y="5029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photos with EXIF rotation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532120" y="5029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577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8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TC-07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64208" y="5577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rollover starts a fresh sheet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532120" y="5577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CD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20840" y="1645920"/>
            <a:ext cx="4919472" cy="4526280"/>
          </a:xfrm>
          <a:prstGeom prst="roundRect">
            <a:avLst>
              <a:gd name="adj" fmla="val 1818"/>
            </a:avLst>
          </a:prstGeom>
          <a:solidFill>
            <a:srgbClr val="151C2B"/>
          </a:solidFill>
          <a:ln w="15875">
            <a:solidFill>
              <a:srgbClr val="2EE6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1847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B9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STUDY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sideways-photo bug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95160" y="2633472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photos taken on a phone loaded with zero faces detected. Phones store the image sideways and rely on an EXIF tag to rotate it — the loader ignored the tag, so the detector saw a rotated face and gave up.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38404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EXIF transpose before detection, and downscale 12 MP photos to 800 px first.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95160" y="4709160"/>
            <a:ext cx="2121408" cy="1143000"/>
          </a:xfrm>
          <a:prstGeom prst="roundRect">
            <a:avLst>
              <a:gd name="adj" fmla="val 7200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159752" y="482803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CD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→ 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78040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detected, of 3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262872" y="4709160"/>
            <a:ext cx="2121408" cy="1143000"/>
          </a:xfrm>
          <a:prstGeom prst="roundRect">
            <a:avLst>
              <a:gd name="adj" fmla="val 7200"/>
            </a:avLst>
          </a:prstGeom>
          <a:solidFill>
            <a:srgbClr val="0F2124"/>
          </a:solidFill>
          <a:ln/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427464" y="4828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E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71→9 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445752" y="5376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reload (8×)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 &amp;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933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machine &amp; orchestration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898648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7889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bot_vision.py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Camera, tracking, recognition, enrollment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694176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844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bot_eyes.py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14400" y="39044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pygame UI — eyes, greeting, overlays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489704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799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bot_attendance.py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700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CSV logging &amp; de-duplication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5285232"/>
            <a:ext cx="146304" cy="146304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175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4955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Tunable settings &amp; colour theme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E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81928" y="2121408"/>
            <a:ext cx="182880" cy="182880"/>
          </a:xfrm>
          <a:prstGeom prst="ellipse">
            <a:avLst/>
          </a:prstGeom>
          <a:ln w="22225">
            <a:solidFill>
              <a:srgbClr val="2EE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/ sync attendance to Google Sheets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81928" y="2743200"/>
            <a:ext cx="182880" cy="182880"/>
          </a:xfrm>
          <a:prstGeom prst="ellipse">
            <a:avLst/>
          </a:prstGeom>
          <a:ln w="22225">
            <a:solidFill>
              <a:srgbClr val="2EE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2679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Multi-face handling for busy entrances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81928" y="3364992"/>
            <a:ext cx="182880" cy="182880"/>
          </a:xfrm>
          <a:prstGeom prst="ellipse">
            <a:avLst/>
          </a:prstGeom>
          <a:ln w="22225">
            <a:solidFill>
              <a:srgbClr val="2EE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3009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check to resist photo spoofing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1928" y="3986784"/>
            <a:ext cx="182880" cy="182880"/>
          </a:xfrm>
          <a:prstGeom prst="ellipse">
            <a:avLst/>
          </a:prstGeom>
          <a:ln w="22225">
            <a:solidFill>
              <a:srgbClr val="2EE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922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web dashboard for monitoring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944100" y="4594860"/>
            <a:ext cx="868680" cy="1691640"/>
          </a:xfrm>
          <a:prstGeom prst="ellipse">
            <a:avLst/>
          </a:prstGeom>
          <a:solidFill>
            <a:srgbClr val="0E2A30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13594" y="4730191"/>
            <a:ext cx="729691" cy="1420978"/>
          </a:xfrm>
          <a:prstGeom prst="ellipse">
            <a:avLst/>
          </a:prstGeom>
          <a:solidFill>
            <a:srgbClr val="113740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83089" y="4865522"/>
            <a:ext cx="590702" cy="1150315"/>
          </a:xfrm>
          <a:prstGeom prst="ellipse">
            <a:avLst/>
          </a:prstGeom>
          <a:solidFill>
            <a:srgbClr val="154850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52583" y="5000854"/>
            <a:ext cx="451714" cy="879653"/>
          </a:xfrm>
          <a:prstGeom prst="ellipse">
            <a:avLst/>
          </a:prstGeom>
          <a:solidFill>
            <a:srgbClr val="1B616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22078" y="5136185"/>
            <a:ext cx="312725" cy="608990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34" name="Shape 32"/>
          <p:cNvSpPr/>
          <p:nvPr/>
        </p:nvSpPr>
        <p:spPr>
          <a:xfrm>
            <a:off x="10296144" y="5203850"/>
            <a:ext cx="164592" cy="262204"/>
          </a:xfrm>
          <a:prstGeom prst="ellipse">
            <a:avLst/>
          </a:prstGeom>
          <a:solidFill>
            <a:srgbClr val="D8FFF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69880" y="4622292"/>
            <a:ext cx="914400" cy="1691640"/>
          </a:xfrm>
          <a:prstGeom prst="ellipse">
            <a:avLst/>
          </a:prstGeom>
          <a:solidFill>
            <a:srgbClr val="0E2A30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43032" y="4757623"/>
            <a:ext cx="768096" cy="1420978"/>
          </a:xfrm>
          <a:prstGeom prst="ellipse">
            <a:avLst/>
          </a:prstGeom>
          <a:solidFill>
            <a:srgbClr val="113740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16184" y="4892954"/>
            <a:ext cx="621792" cy="1150315"/>
          </a:xfrm>
          <a:prstGeom prst="ellipse">
            <a:avLst/>
          </a:prstGeom>
          <a:solidFill>
            <a:srgbClr val="154850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89336" y="5028286"/>
            <a:ext cx="475488" cy="879653"/>
          </a:xfrm>
          <a:prstGeom prst="ellipse">
            <a:avLst/>
          </a:prstGeom>
          <a:solidFill>
            <a:srgbClr val="1B6168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62488" y="5163617"/>
            <a:ext cx="329184" cy="608990"/>
          </a:xfrm>
          <a:prstGeom prst="ellipse">
            <a:avLst/>
          </a:prstGeom>
          <a:solidFill>
            <a:srgbClr val="2EE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44784" y="5231282"/>
            <a:ext cx="164592" cy="262204"/>
          </a:xfrm>
          <a:prstGeom prst="ellipse">
            <a:avLst/>
          </a:prstGeom>
          <a:solidFill>
            <a:srgbClr val="D8FFFB"/>
          </a:solidFill>
          <a:ln/>
        </p:spPr>
      </p:sp>
      <p:sp>
        <p:nvSpPr>
          <p:cNvPr id="41" name="Text 39"/>
          <p:cNvSpPr/>
          <p:nvPr/>
        </p:nvSpPr>
        <p:spPr>
          <a:xfrm>
            <a:off x="5852160" y="5806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E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On-device attendance — eyes and all.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 ATTENDANCE KIOSK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607040" y="6446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2026-07-17T08:54:34Z</dcterms:created>
  <dcterms:modified xsi:type="dcterms:W3CDTF">2026-07-17T08:54:34Z</dcterms:modified>
</cp:coreProperties>
</file>